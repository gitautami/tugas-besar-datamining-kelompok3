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us Jakarta Sans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Plus Jakarta Sans SemiBold"/>
      <p:regular r:id="rId33"/>
      <p:bold r:id="rId34"/>
      <p:italic r:id="rId35"/>
      <p:boldItalic r:id="rId36"/>
    </p:embeddedFont>
    <p:embeddedFont>
      <p:font typeface="Urbanist"/>
      <p:regular r:id="rId37"/>
      <p:bold r:id="rId38"/>
      <p:italic r:id="rId39"/>
      <p:boldItalic r:id="rId40"/>
    </p:embeddedFont>
    <p:embeddedFont>
      <p:font typeface="Urbanist ExtraBold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gozFQqTjharBUrsZFK3B1HZuQK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5C08DF-8AA9-4621-9FC9-0E0C73EB7650}">
  <a:tblStyle styleId="{F75C08DF-8AA9-4621-9FC9-0E0C73EB765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20" Type="http://schemas.openxmlformats.org/officeDocument/2006/relationships/slide" Target="slides/slide14.xml"/><Relationship Id="rId42" Type="http://schemas.openxmlformats.org/officeDocument/2006/relationships/font" Target="fonts/UrbanistExtraBold-boldItalic.fntdata"/><Relationship Id="rId41" Type="http://schemas.openxmlformats.org/officeDocument/2006/relationships/font" Target="fonts/UrbanistExtraBold-bold.fntdata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43" Type="http://customschemas.google.com/relationships/presentationmetadata" Target="meta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PlusJakartaSans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italic.fntdata"/><Relationship Id="rId12" Type="http://schemas.openxmlformats.org/officeDocument/2006/relationships/slide" Target="slides/slide6.xml"/><Relationship Id="rId34" Type="http://schemas.openxmlformats.org/officeDocument/2006/relationships/font" Target="fonts/PlusJakartaSansSemiBold-bold.fntdata"/><Relationship Id="rId15" Type="http://schemas.openxmlformats.org/officeDocument/2006/relationships/slide" Target="slides/slide9.xml"/><Relationship Id="rId37" Type="http://schemas.openxmlformats.org/officeDocument/2006/relationships/font" Target="fonts/Urbanist-regular.fntdata"/><Relationship Id="rId14" Type="http://schemas.openxmlformats.org/officeDocument/2006/relationships/slide" Target="slides/slide8.xml"/><Relationship Id="rId36" Type="http://schemas.openxmlformats.org/officeDocument/2006/relationships/font" Target="fonts/PlusJakartaSansSemi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Urbanist-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425e7d3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425e7d3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2712" y="4456658"/>
            <a:ext cx="68865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895725" y="1972716"/>
            <a:ext cx="4400550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Analisis Sentimen: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200" u="none" cap="none" strike="noStrike">
                <a:solidFill>
                  <a:srgbClr val="E05A2B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Isu Dolar Prabowo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286000" y="3427958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Sentimen Pengguna TikTok dan YouTube terhadap Pernyataan Presiden Prabowo bahwa "Orang Desa Tidak Pakai Dolar"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365408" y="1938932"/>
            <a:ext cx="9461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Analisis Sentimen: Isu </a:t>
            </a:r>
            <a:r>
              <a:rPr b="1" i="0" lang="en-US" sz="3750" u="none" cap="none" strike="noStrike">
                <a:solidFill>
                  <a:srgbClr val="E05300"/>
                </a:solidFill>
                <a:latin typeface="Poppins"/>
                <a:ea typeface="Poppins"/>
                <a:cs typeface="Poppins"/>
                <a:sym typeface="Poppins"/>
              </a:rPr>
              <a:t>Dolar Prabowo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047750" y="2765770"/>
            <a:ext cx="8096400" cy="21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Analisis Sentimen Pengguna TikTok dan YouTube terhadap Pernyataan Presiden Prabowo bahwa "Orang Desa Tidak Pakai Dolar"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Disusun oleh Kelompok 3: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•Resqi Aulia Gita Utami (714230003) • Muhammad Haitsam Izzuddin Azman (714230021)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Hafizh Fakhri Muharram (714230031) • Miqdam Syiam Nurrohman (714230043)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DIV TEKNIK INFORMATIKA - UNIVERSITAS LOGISTIK &amp; BISNIS INTERNASIONAL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1190625" y="2286148"/>
            <a:ext cx="4667250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24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Pelemahan Rupiah</a:t>
            </a:r>
            <a:r>
              <a:rPr b="0" i="0" lang="en-US" sz="1200" u="none" cap="none" strike="noStrike">
                <a:solidFill>
                  <a:srgbClr val="1F29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Kurs menembus angka Rp17.800/USD yang berdampak sistemik pada harga pangan, pupuk, dan pakan ternak di desa.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190538" y="3448663"/>
            <a:ext cx="4667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24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Retorika Publik</a:t>
            </a:r>
            <a:r>
              <a:rPr b="0" i="0" lang="en-US" sz="1200" u="none" cap="none" strike="noStrike">
                <a:solidFill>
                  <a:srgbClr val="1F29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Pernyataan Presiden Prabowo "Orang desa tidak pakai dolar" bertujuan menenangkan gejolak, namun bertentangan dengan realitas inflasi akar rumput.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190625" y="4587031"/>
            <a:ext cx="4667250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24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Polemik Media Sosial</a:t>
            </a:r>
            <a:r>
              <a:rPr b="0" i="0" lang="en-US" sz="1200" u="none" cap="none" strike="noStrike">
                <a:solidFill>
                  <a:srgbClr val="1F29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Memunculkan diskursus digital yang masif di TikTok dan YouTube dalam bentuk komentar bernada kritik maupun dukungan.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31948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988" y="3736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620369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952500" y="571500"/>
            <a:ext cx="1100137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Latar Belakang &amp; Urgensi Kasus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091125"/>
            <a:ext cx="5095875" cy="35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952500" y="571500"/>
            <a:ext cx="1100137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Alur Preprocessing Data 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2468880"/>
            <a:ext cx="2212848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2029968" y="2679192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05A2B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594360" y="2761488"/>
            <a:ext cx="1435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240"/>
                </a:solidFill>
                <a:latin typeface="Urbanist"/>
                <a:ea typeface="Urbanist"/>
                <a:cs typeface="Urbanist"/>
                <a:sym typeface="Urbanist"/>
              </a:rPr>
              <a:t>Cleaning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94360" y="3328416"/>
            <a:ext cx="179222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Menghapus simbol, emoji, tagar, mention, URL, dan angka, lalu membuang data kosong (missing values) dan komentar duplikat.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7480" y="2468880"/>
            <a:ext cx="2212848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4343400" y="2679192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05A2B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2907792" y="2761488"/>
            <a:ext cx="1435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240"/>
                </a:solidFill>
                <a:latin typeface="Urbanist"/>
                <a:ea typeface="Urbanist"/>
                <a:cs typeface="Urbanist"/>
                <a:sym typeface="Urbanist"/>
              </a:rPr>
              <a:t>Normalisasi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2907792" y="3328416"/>
            <a:ext cx="179222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Mengubah huruf ke lowercase (case folding) dan slang/bahasa gaul (misal: "bgt", "gak", "yg") menjadi bahasa baku.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912" y="2468880"/>
            <a:ext cx="2212848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6656832" y="2679192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05A2B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5221224" y="2761488"/>
            <a:ext cx="1435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240"/>
                </a:solidFill>
                <a:latin typeface="Urbanist"/>
                <a:ea typeface="Urbanist"/>
                <a:cs typeface="Urbanist"/>
                <a:sym typeface="Urbanist"/>
              </a:rPr>
              <a:t>Stopword &amp; Stemming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221224" y="3328416"/>
            <a:ext cx="179222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Menghapus kata umum non-informasi dengan tetap menjaga negasi krusial ("tidak", "bukan"), lalu memotong kata ke bentuk dasar menggunakan Sastrawi.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4344" y="2468880"/>
            <a:ext cx="2212848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8970264" y="2679192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05A2B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7534656" y="2761488"/>
            <a:ext cx="1435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240"/>
                </a:solidFill>
                <a:latin typeface="Urbanist"/>
                <a:ea typeface="Urbanist"/>
                <a:cs typeface="Urbanist"/>
                <a:sym typeface="Urbanist"/>
              </a:rPr>
              <a:t>Filter Akhir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7534656" y="3328416"/>
            <a:ext cx="179222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Membuang baris yang kosong atau tersisa kurang dari 2 kata setelah seluruh proses cleaning selesai.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7776" y="2468880"/>
            <a:ext cx="2212848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11283696" y="2679192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05A2B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848088" y="2761488"/>
            <a:ext cx="1435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240"/>
                </a:solidFill>
                <a:latin typeface="Urbanist"/>
                <a:ea typeface="Urbanist"/>
                <a:cs typeface="Urbanist"/>
                <a:sym typeface="Urbanist"/>
              </a:rPr>
              <a:t>Encoding &amp; TF-IDF Fitur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9848088" y="3328416"/>
            <a:ext cx="179222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Mengubah label sentimen menjadi angka (Label Encoding) dan teks menjadi bobot kata menggunakan TF-IDF + N-Grams. Dataset siap masuk ke tahap modeling.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15033"/>
            <a:ext cx="10668000" cy="284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952500" y="571500"/>
            <a:ext cx="1100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Ringkasan Statistik Dataset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77240" y="1143000"/>
            <a:ext cx="3246120" cy="960120"/>
          </a:xfrm>
          <a:prstGeom prst="roundRect">
            <a:avLst>
              <a:gd fmla="val 16667" name="adj"/>
            </a:avLst>
          </a:prstGeom>
          <a:solidFill>
            <a:srgbClr val="F5F8FF"/>
          </a:solidFill>
          <a:ln cap="flat" cmpd="sng" w="12700">
            <a:solidFill>
              <a:srgbClr val="C3C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50" lIns="137150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DATASET RAW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C3C78"/>
                </a:solidFill>
                <a:latin typeface="Arial"/>
                <a:ea typeface="Arial"/>
                <a:cs typeface="Arial"/>
                <a:sym typeface="Arial"/>
              </a:rPr>
              <a:t>11.163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73737"/>
                </a:solidFill>
                <a:latin typeface="Arial"/>
                <a:ea typeface="Arial"/>
                <a:cs typeface="Arial"/>
                <a:sym typeface="Arial"/>
              </a:rPr>
              <a:t>Total komentar awal dari TikTok dan YouTube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168640" y="1097220"/>
            <a:ext cx="3246120" cy="960120"/>
          </a:xfrm>
          <a:prstGeom prst="roundRect">
            <a:avLst>
              <a:gd fmla="val 16667" name="adj"/>
            </a:avLst>
          </a:prstGeom>
          <a:solidFill>
            <a:srgbClr val="F5F8FF"/>
          </a:solidFill>
          <a:ln cap="flat" cmpd="sng" w="12700">
            <a:solidFill>
              <a:srgbClr val="C3C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50" lIns="137150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DATASET SIAP PAKAI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C3C78"/>
                </a:solidFill>
                <a:latin typeface="Arial"/>
                <a:ea typeface="Arial"/>
                <a:cs typeface="Arial"/>
                <a:sym typeface="Arial"/>
              </a:rPr>
              <a:t>10.295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73737"/>
                </a:solidFill>
                <a:latin typeface="Arial"/>
                <a:ea typeface="Arial"/>
                <a:cs typeface="Arial"/>
                <a:sym typeface="Arial"/>
              </a:rPr>
              <a:t>Data valid setelah cleaning dan filter akhir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655820" y="1119695"/>
            <a:ext cx="2880360" cy="960120"/>
          </a:xfrm>
          <a:prstGeom prst="roundRect">
            <a:avLst>
              <a:gd fmla="val 16667" name="adj"/>
            </a:avLst>
          </a:prstGeom>
          <a:solidFill>
            <a:srgbClr val="F5F8FF"/>
          </a:solidFill>
          <a:ln cap="flat" cmpd="sng" w="12700">
            <a:solidFill>
              <a:srgbClr val="C3C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50" lIns="137150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DATA TERFILTER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C3C78"/>
                </a:solidFill>
                <a:latin typeface="Arial"/>
                <a:ea typeface="Arial"/>
                <a:cs typeface="Arial"/>
                <a:sym typeface="Arial"/>
              </a:rPr>
              <a:t>868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73737"/>
                </a:solidFill>
                <a:latin typeface="Arial"/>
                <a:ea typeface="Arial"/>
                <a:cs typeface="Arial"/>
                <a:sym typeface="Arial"/>
              </a:rPr>
              <a:t>Duplikat, missing value, atau terlalu pendek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" name="Google Shape;143;p5"/>
          <p:cNvGraphicFramePr/>
          <p:nvPr/>
        </p:nvGraphicFramePr>
        <p:xfrm>
          <a:off x="777240" y="2423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{F75C08DF-8AA9-4621-9FC9-0E0C73EB7650}</a:tableStyleId>
              </a:tblPr>
              <a:tblGrid>
                <a:gridCol w="1554475"/>
                <a:gridCol w="1417325"/>
                <a:gridCol w="2331725"/>
                <a:gridCol w="53492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Platform / Dataset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4E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Jumlah Data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4E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4E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Keterangan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4E8C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TikTok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1.999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Komentar awal dari hasil crawling platform TikTok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YouTube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9.164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Komentar awal dari hasil crawling platform YouTube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 Dataset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11.163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Gabungan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seluruh komentar sebelum preprocessing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 Siap Pakai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10.295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bersih setelah cleaning, normalisasi, stopword, stemming, dan filter akhir</a:t>
                      </a:r>
                      <a:endParaRPr sz="1400" u="none" cap="none" strike="noStrike"/>
                    </a:p>
                  </a:txBody>
                  <a:tcPr marT="27425" marB="27425" marR="36575" marL="36575" anchor="ctr">
                    <a:lnL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959885" y="392196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Skenario Eksperimen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69385" y="392196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52070" y="923479"/>
            <a:ext cx="11181904" cy="51019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92124" y="1133457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84A"/>
                </a:solidFill>
                <a:latin typeface="Arial"/>
                <a:ea typeface="Arial"/>
                <a:cs typeface="Arial"/>
                <a:sym typeface="Arial"/>
              </a:rPr>
              <a:t>Skenario Eksperimen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86968" y="1691640"/>
            <a:ext cx="210312" cy="210312"/>
          </a:xfrm>
          <a:prstGeom prst="ellipse">
            <a:avLst/>
          </a:prstGeom>
          <a:solidFill>
            <a:srgbClr val="537EC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86968" y="2532888"/>
            <a:ext cx="210312" cy="210312"/>
          </a:xfrm>
          <a:prstGeom prst="ellipse">
            <a:avLst/>
          </a:prstGeom>
          <a:solidFill>
            <a:srgbClr val="537EC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86968" y="3465576"/>
            <a:ext cx="210312" cy="210312"/>
          </a:xfrm>
          <a:prstGeom prst="ellipse">
            <a:avLst/>
          </a:prstGeom>
          <a:solidFill>
            <a:srgbClr val="537EC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86968" y="4306824"/>
            <a:ext cx="210312" cy="210312"/>
          </a:xfrm>
          <a:prstGeom prst="ellipse">
            <a:avLst/>
          </a:prstGeom>
          <a:solidFill>
            <a:srgbClr val="537EC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1097280" y="1684624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3B68"/>
                </a:solidFill>
                <a:latin typeface="Arial"/>
                <a:ea typeface="Arial"/>
                <a:cs typeface="Arial"/>
                <a:sym typeface="Arial"/>
              </a:rPr>
              <a:t>Perbandingan algoritma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1097280" y="188579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04E"/>
                </a:solidFill>
                <a:latin typeface="Arial"/>
                <a:ea typeface="Arial"/>
                <a:cs typeface="Arial"/>
                <a:sym typeface="Arial"/>
              </a:rPr>
              <a:t>3 algoritma dibandingkan: Logistic Regression, SVM (Linear), dan Naive Bayes (Multinomial).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1097280" y="2516728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3B68"/>
                </a:solidFill>
                <a:latin typeface="Arial"/>
                <a:ea typeface="Arial"/>
                <a:cs typeface="Arial"/>
                <a:sym typeface="Arial"/>
              </a:rPr>
              <a:t>Fitur yang digunakan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1097280" y="275701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04E"/>
                </a:solidFill>
                <a:latin typeface="Arial"/>
                <a:ea typeface="Arial"/>
                <a:cs typeface="Arial"/>
                <a:sym typeface="Arial"/>
              </a:rPr>
              <a:t>TF-IDF unigram + bigram (ngram_range=(1,2)), maksimal 5.000 fitur, untuk menangkap konteks frasa seperti “tidak parah”.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1106424" y="3474207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3B68"/>
                </a:solidFill>
                <a:latin typeface="Arial"/>
                <a:ea typeface="Arial"/>
                <a:cs typeface="Arial"/>
                <a:sym typeface="Arial"/>
              </a:rPr>
              <a:t>Validasi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097280" y="3712207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04E"/>
                </a:solidFill>
                <a:latin typeface="Arial"/>
                <a:ea typeface="Arial"/>
                <a:cs typeface="Arial"/>
                <a:sym typeface="Arial"/>
              </a:rPr>
              <a:t>Train-test split 80:20 dikombinasikan dengan 5-fold cross validation agar hasil accuracy lebih stabil.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6815328" y="2717896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3B68"/>
                </a:solidFill>
                <a:latin typeface="Arial"/>
                <a:ea typeface="Arial"/>
                <a:cs typeface="Arial"/>
                <a:sym typeface="Arial"/>
              </a:rPr>
              <a:t>Parameter penting yang diubah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815328" y="3001360"/>
            <a:ext cx="1298448" cy="237744"/>
          </a:xfrm>
          <a:prstGeom prst="rect">
            <a:avLst/>
          </a:prstGeom>
          <a:solidFill>
            <a:srgbClr val="315A9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2700" lIns="38100" spcFirstLastPara="1" rIns="381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Algoritma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113776" y="3001360"/>
            <a:ext cx="3191256" cy="237744"/>
          </a:xfrm>
          <a:prstGeom prst="rect">
            <a:avLst/>
          </a:prstGeom>
          <a:solidFill>
            <a:srgbClr val="315A9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2700" lIns="38100" spcFirstLastPara="1" rIns="381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Parameter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815328" y="3239104"/>
            <a:ext cx="1298448" cy="329184"/>
          </a:xfrm>
          <a:prstGeom prst="rect">
            <a:avLst/>
          </a:prstGeom>
          <a:solidFill>
            <a:srgbClr val="F6F9FD"/>
          </a:solidFill>
          <a:ln cap="flat" cmpd="sng" w="9525">
            <a:solidFill>
              <a:srgbClr val="DEE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2700" lIns="38100" spcFirstLastPara="1" rIns="38100" wrap="square" tIns="12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A364A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113776" y="3239104"/>
            <a:ext cx="3191256" cy="329184"/>
          </a:xfrm>
          <a:prstGeom prst="rect">
            <a:avLst/>
          </a:prstGeom>
          <a:solidFill>
            <a:srgbClr val="F6F9FD"/>
          </a:solidFill>
          <a:ln cap="flat" cmpd="sng" w="9525">
            <a:solidFill>
              <a:srgbClr val="DEE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2700" lIns="38100" spcFirstLastPara="1" rIns="38100" wrap="square" tIns="12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64A"/>
                </a:solidFill>
                <a:latin typeface="Arial"/>
                <a:ea typeface="Arial"/>
                <a:cs typeface="Arial"/>
                <a:sym typeface="Arial"/>
              </a:rPr>
              <a:t>C=1.0, solver='liblinear', class_weight='balanced'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815328" y="3568288"/>
            <a:ext cx="1298448" cy="329184"/>
          </a:xfrm>
          <a:prstGeom prst="rect">
            <a:avLst/>
          </a:prstGeom>
          <a:solidFill>
            <a:srgbClr val="F6F9FD"/>
          </a:solidFill>
          <a:ln cap="flat" cmpd="sng" w="9525">
            <a:solidFill>
              <a:srgbClr val="DEE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2700" lIns="38100" spcFirstLastPara="1" rIns="38100" wrap="square" tIns="12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A364A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113776" y="3568288"/>
            <a:ext cx="3191256" cy="329184"/>
          </a:xfrm>
          <a:prstGeom prst="rect">
            <a:avLst/>
          </a:prstGeom>
          <a:solidFill>
            <a:srgbClr val="F6F9FD"/>
          </a:solidFill>
          <a:ln cap="flat" cmpd="sng" w="9525">
            <a:solidFill>
              <a:srgbClr val="DEE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2700" lIns="38100" spcFirstLastPara="1" rIns="38100" wrap="square" tIns="12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64A"/>
                </a:solidFill>
                <a:latin typeface="Arial"/>
                <a:ea typeface="Arial"/>
                <a:cs typeface="Arial"/>
                <a:sym typeface="Arial"/>
              </a:rPr>
              <a:t>kernel='linear', C=1.0, class_weight='balanced'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815328" y="3897472"/>
            <a:ext cx="1298448" cy="329184"/>
          </a:xfrm>
          <a:prstGeom prst="rect">
            <a:avLst/>
          </a:prstGeom>
          <a:solidFill>
            <a:srgbClr val="F6F9FD"/>
          </a:solidFill>
          <a:ln cap="flat" cmpd="sng" w="9525">
            <a:solidFill>
              <a:srgbClr val="DEE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2700" lIns="38100" spcFirstLastPara="1" rIns="38100" wrap="square" tIns="12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A364A"/>
                </a:solidFill>
                <a:latin typeface="Arial"/>
                <a:ea typeface="Arial"/>
                <a:cs typeface="Arial"/>
                <a:sym typeface="Arial"/>
              </a:rPr>
              <a:t>Naive Bayes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113776" y="3897472"/>
            <a:ext cx="3191256" cy="329184"/>
          </a:xfrm>
          <a:prstGeom prst="rect">
            <a:avLst/>
          </a:prstGeom>
          <a:solidFill>
            <a:srgbClr val="F6F9FD"/>
          </a:solidFill>
          <a:ln cap="flat" cmpd="sng" w="9525">
            <a:solidFill>
              <a:srgbClr val="DEE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2700" lIns="38100" spcFirstLastPara="1" rIns="38100" wrap="square" tIns="12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64A"/>
                </a:solidFill>
                <a:latin typeface="Arial"/>
                <a:ea typeface="Arial"/>
                <a:cs typeface="Arial"/>
                <a:sym typeface="Arial"/>
              </a:rPr>
              <a:t>alpha=1.0 (Laplace smoothing)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097280" y="4315968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3B68"/>
                </a:solidFill>
                <a:latin typeface="Arial"/>
                <a:ea typeface="Arial"/>
                <a:cs typeface="Arial"/>
                <a:sym typeface="Arial"/>
              </a:rPr>
              <a:t>Tantangan (Imbalanced Data)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615686" y="1684624"/>
            <a:ext cx="210312" cy="210312"/>
          </a:xfrm>
          <a:prstGeom prst="ellipse">
            <a:avLst/>
          </a:prstGeom>
          <a:solidFill>
            <a:srgbClr val="537EC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6825998" y="1684624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3B68"/>
                </a:solidFill>
                <a:latin typeface="Arial"/>
                <a:ea typeface="Arial"/>
                <a:cs typeface="Arial"/>
                <a:sym typeface="Arial"/>
              </a:rPr>
              <a:t>Solusi Intervensi (SMOTE)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1097280" y="4544824"/>
            <a:ext cx="4433570" cy="6285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04E"/>
                </a:solidFill>
                <a:latin typeface="Arial"/>
                <a:ea typeface="Arial"/>
                <a:cs typeface="Arial"/>
                <a:sym typeface="Arial"/>
              </a:rPr>
              <a:t>Distribusi kelas sangat timpang. Sentimen didominasi Negatif (81,1%), Netral (14,4%), dan Positif (4,5%). Kondisi ini berisiko memicu jebakan akurasi (Accuracy Paradox).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6825998" y="1984432"/>
            <a:ext cx="4480560" cy="612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04E"/>
                </a:solidFill>
                <a:latin typeface="Arial"/>
                <a:ea typeface="Arial"/>
                <a:cs typeface="Arial"/>
                <a:sym typeface="Arial"/>
              </a:rPr>
              <a:t>Penerapan Synthetic Minority Over-sampling Technique (SMOTE) khusus pada Data Latih untuk menggandakan sampel kelas minoritas secara sintetis.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/>
          <p:nvPr/>
        </p:nvSpPr>
        <p:spPr>
          <a:xfrm>
            <a:off x="762000" y="5230266"/>
            <a:ext cx="11049000" cy="451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465263"/>
                </a:solidFill>
                <a:latin typeface="Arial"/>
                <a:ea typeface="Arial"/>
                <a:cs typeface="Arial"/>
                <a:sym typeface="Arial"/>
              </a:rPr>
              <a:t>*Distribusi sentimen menunjukkan komentar negatif paling dominan, diikuti netral dan positif. Proporsi ini digunakan sebagai dasar evaluasi awal sebelum perbandingan model klasifikasi.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62000" y="5039766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092834" y="1584466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6473834" y="1565416"/>
            <a:ext cx="2466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A2240"/>
                </a:solidFill>
                <a:latin typeface="Arial"/>
                <a:ea typeface="Arial"/>
                <a:cs typeface="Arial"/>
                <a:sym typeface="Arial"/>
              </a:rPr>
              <a:t>Negatif (81.1%)</a:t>
            </a:r>
            <a:r>
              <a:rPr b="1" lang="en-US" sz="1600">
                <a:solidFill>
                  <a:srgbClr val="0A2240"/>
                </a:solidFill>
              </a:rPr>
              <a:t> -</a:t>
            </a:r>
            <a:r>
              <a:rPr b="1" i="0" lang="en-US" sz="1600" u="none" cap="none" strike="noStrike">
                <a:solidFill>
                  <a:srgbClr val="0A2240"/>
                </a:solidFill>
                <a:latin typeface="Arial"/>
                <a:ea typeface="Arial"/>
                <a:cs typeface="Arial"/>
                <a:sym typeface="Arial"/>
              </a:rPr>
              <a:t> 8.345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5263"/>
                </a:solidFill>
                <a:latin typeface="Arial"/>
                <a:ea typeface="Arial"/>
                <a:cs typeface="Arial"/>
                <a:sym typeface="Arial"/>
              </a:rPr>
              <a:t>Mengkritik dampak nyata inflasi di desa.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092834" y="2767629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0B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6473834" y="2748578"/>
            <a:ext cx="258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A2240"/>
                </a:solidFill>
                <a:latin typeface="Arial"/>
                <a:ea typeface="Arial"/>
                <a:cs typeface="Arial"/>
                <a:sym typeface="Arial"/>
              </a:rPr>
              <a:t>Netral (14.4%) </a:t>
            </a:r>
            <a:r>
              <a:rPr b="1" lang="en-US" sz="1600">
                <a:solidFill>
                  <a:srgbClr val="0A2240"/>
                </a:solidFill>
              </a:rPr>
              <a:t>-</a:t>
            </a:r>
            <a:r>
              <a:rPr b="1" i="0" lang="en-US" sz="1600" u="none" cap="none" strike="noStrike">
                <a:solidFill>
                  <a:srgbClr val="0A2240"/>
                </a:solidFill>
                <a:latin typeface="Arial"/>
                <a:ea typeface="Arial"/>
                <a:cs typeface="Arial"/>
                <a:sym typeface="Arial"/>
              </a:rPr>
              <a:t> 1.487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5263"/>
                </a:solidFill>
                <a:latin typeface="Arial"/>
                <a:ea typeface="Arial"/>
                <a:cs typeface="Arial"/>
                <a:sym typeface="Arial"/>
              </a:rPr>
              <a:t>Diskusi objektif makroekonomi/moneter.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092834" y="3950779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6473834" y="3931729"/>
            <a:ext cx="292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A2240"/>
                </a:solidFill>
                <a:latin typeface="Arial"/>
                <a:ea typeface="Arial"/>
                <a:cs typeface="Arial"/>
                <a:sym typeface="Arial"/>
              </a:rPr>
              <a:t>Positif (4.5%) </a:t>
            </a:r>
            <a:r>
              <a:rPr b="1" lang="en-US" sz="1600">
                <a:solidFill>
                  <a:srgbClr val="0A2240"/>
                </a:solidFill>
              </a:rPr>
              <a:t>-</a:t>
            </a:r>
            <a:r>
              <a:rPr b="1" i="0" lang="en-US" sz="1600" u="none" cap="none" strike="noStrike">
                <a:solidFill>
                  <a:srgbClr val="0A2240"/>
                </a:solidFill>
                <a:latin typeface="Arial"/>
                <a:ea typeface="Arial"/>
                <a:cs typeface="Arial"/>
                <a:sym typeface="Arial"/>
              </a:rPr>
              <a:t> 463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5263"/>
                </a:solidFill>
                <a:latin typeface="Arial"/>
                <a:ea typeface="Arial"/>
                <a:cs typeface="Arial"/>
                <a:sym typeface="Arial"/>
              </a:rPr>
              <a:t>Membela optimisme presiden dan pemerintah.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952500" y="571500"/>
            <a:ext cx="11001375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Proporsi Sentimen &amp; Evaluasi</a:t>
            </a:r>
            <a:endParaRPr b="0" i="0" sz="1400" u="none" cap="none" strike="noStrike">
              <a:solidFill>
                <a:srgbClr val="0000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8" title="Distribusi label.png"/>
          <p:cNvPicPr preferRelativeResize="0"/>
          <p:nvPr/>
        </p:nvPicPr>
        <p:blipFill rotWithShape="1">
          <a:blip r:embed="rId4">
            <a:alphaModFix/>
          </a:blip>
          <a:srcRect b="30" l="0" r="0" t="30"/>
          <a:stretch/>
        </p:blipFill>
        <p:spPr>
          <a:xfrm>
            <a:off x="819150" y="1392212"/>
            <a:ext cx="5079201" cy="354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952500" y="571500"/>
            <a:ext cx="11001300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Hasil Evaluasi 3 Algoritma</a:t>
            </a:r>
            <a:endParaRPr b="0" i="0" sz="1400" u="none" cap="none" strike="noStrike">
              <a:solidFill>
                <a:srgbClr val="0000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868680" y="11430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Perbandingan performa model berdasarkan accuracy, precision, recall, F1-score, dan 5-fold cross validation.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1" name="Google Shape;201;p7"/>
          <p:cNvGraphicFramePr/>
          <p:nvPr/>
        </p:nvGraphicFramePr>
        <p:xfrm>
          <a:off x="952500" y="158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{F75C08DF-8AA9-4621-9FC9-0E0C73EB7650}</a:tableStyleId>
              </a:tblPr>
              <a:tblGrid>
                <a:gridCol w="1487250"/>
                <a:gridCol w="1487250"/>
                <a:gridCol w="1487250"/>
                <a:gridCol w="1487250"/>
                <a:gridCol w="1487250"/>
                <a:gridCol w="1487250"/>
                <a:gridCol w="1487250"/>
              </a:tblGrid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Metrik / Sentimen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Naïve Bayes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 + SMOTE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 + SMOTE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Naïve Bayes + SMOTE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0.796017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0.662458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0.809131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0.677999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0.703254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0.641574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0.486667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0.424007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0.270104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0.438420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0.431289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0.415553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0.399325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0.464045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0.332734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0.495055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0.457135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0.486243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0.410026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0.430105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0.298166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0.451343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0.438714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0.420059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Google Shape;206;g3f425e7d3cc_0_0"/>
          <p:cNvGraphicFramePr/>
          <p:nvPr/>
        </p:nvGraphicFramePr>
        <p:xfrm>
          <a:off x="1315325" y="1354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{F75C08DF-8AA9-4621-9FC9-0E0C73EB7650}</a:tableStyleId>
              </a:tblPr>
              <a:tblGrid>
                <a:gridCol w="3326725"/>
                <a:gridCol w="3326725"/>
                <a:gridCol w="3326725"/>
              </a:tblGrid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Mean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 Mean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 (Sebelum SMOTE)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0.793686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0.391111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 (Sesudah SMOTE)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0.671200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0.447745 </a:t>
                      </a:r>
                      <a:endParaRPr b="1" sz="1800" u="none" cap="none" strike="noStrike"/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 (Sebelum SMOTE)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0.655561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0.426336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 (Sesudah SMOTE)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0.699174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0.433935 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Naive Bayes (Sebelum SMOTE)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0.810199 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0.298383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727625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Naive Bayes (Sesudah SMOTE)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0.627975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0.415164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  <p:sp>
        <p:nvSpPr>
          <p:cNvPr id="207" name="Google Shape;207;g3f425e7d3cc_0_0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lang="en-US" sz="2850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Hasil 5 Cross Validation Sebelum dan Sesudah SMOTE</a:t>
            </a:r>
            <a:endParaRPr b="0" i="0" sz="1400" u="none" cap="none" strike="noStrike">
              <a:solidFill>
                <a:srgbClr val="0000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08" name="Google Shape;208;g3f425e7d3cc_0_0"/>
          <p:cNvSpPr/>
          <p:nvPr/>
        </p:nvSpPr>
        <p:spPr>
          <a:xfrm>
            <a:off x="762000" y="571500"/>
            <a:ext cx="57300" cy="43440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/>
        </p:nvSpPr>
        <p:spPr>
          <a:xfrm>
            <a:off x="952500" y="571500"/>
            <a:ext cx="11001300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Hasil Evaluasi 3 Algoritma Tanpa Smote</a:t>
            </a:r>
            <a:endParaRPr b="0" i="0" sz="1400" u="none" cap="none" strike="noStrike">
              <a:solidFill>
                <a:srgbClr val="0000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862" y="1847469"/>
            <a:ext cx="11344275" cy="3163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/>
        </p:nvSpPr>
        <p:spPr>
          <a:xfrm>
            <a:off x="952500" y="571500"/>
            <a:ext cx="11001300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Hasil Evaluasi 3 Algoritma Menggunakan Smote</a:t>
            </a:r>
            <a:endParaRPr b="0" i="0" sz="1400" u="none" cap="none" strike="noStrike">
              <a:solidFill>
                <a:srgbClr val="0000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5" y="1816928"/>
            <a:ext cx="11563350" cy="322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13" y="1143984"/>
            <a:ext cx="10862174" cy="537013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Hasil Accuracy dan F1-Score Sebelum </a:t>
            </a:r>
            <a:r>
              <a:rPr lang="en-US" sz="2850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dan</a:t>
            </a: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Sesudah SMOTE</a:t>
            </a:r>
            <a:endParaRPr b="0" i="0" sz="1400" u="none" cap="none" strike="noStrike">
              <a:solidFill>
                <a:srgbClr val="0000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/>
        </p:nvSpPr>
        <p:spPr>
          <a:xfrm>
            <a:off x="866775" y="561975"/>
            <a:ext cx="11001300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B224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Hasil WordCloud </a:t>
            </a:r>
            <a:endParaRPr b="0" i="0" sz="1400" u="none" cap="none" strike="noStrike">
              <a:solidFill>
                <a:srgbClr val="0000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676275" y="561975"/>
            <a:ext cx="57150" cy="43428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2015064"/>
            <a:ext cx="11315700" cy="282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/>
        </p:nvSpPr>
        <p:spPr>
          <a:xfrm>
            <a:off x="914400" y="502920"/>
            <a:ext cx="1024128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18181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Interpretasi Hasil</a:t>
            </a:r>
            <a:endParaRPr b="0" i="0" sz="1400" u="none" cap="none" strike="noStrike">
              <a:solidFill>
                <a:srgbClr val="0000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31520" y="530352"/>
            <a:ext cx="54864" cy="411480"/>
          </a:xfrm>
          <a:prstGeom prst="rect">
            <a:avLst/>
          </a:prstGeom>
          <a:solidFill>
            <a:srgbClr val="DB3E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914400" y="96012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Makna hasil evaluasi model, pola distribusi sentimen, fitur berpengaruh, dan batasan analisis.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85800" y="1325880"/>
            <a:ext cx="5257800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50392" y="1472184"/>
            <a:ext cx="310896" cy="310896"/>
          </a:xfrm>
          <a:prstGeom prst="ellipse">
            <a:avLst/>
          </a:prstGeom>
          <a:solidFill>
            <a:srgbClr val="FFED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7302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1252728" y="1444752"/>
            <a:ext cx="4507992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Hasil Evaluasi Model Terbaik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937270" y="1856229"/>
            <a:ext cx="4755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dipadukan dengan intervensi SMOTE terbukti menjadi algoritma paling stabil dan adil dalam mengenali seluruh kelas sentimen (terutama kelas minoritas) dibandingkan dengan SVM dan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Naïve Bayes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172200" y="1325880"/>
            <a:ext cx="5257800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336792" y="1472184"/>
            <a:ext cx="310896" cy="310896"/>
          </a:xfrm>
          <a:prstGeom prst="ellipse">
            <a:avLst/>
          </a:prstGeom>
          <a:solidFill>
            <a:srgbClr val="FFED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7302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6739128" y="1444752"/>
            <a:ext cx="45079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Pola apa yang ditemukan?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6423670" y="1856229"/>
            <a:ext cx="47550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Opini publik sangat timpang dengan dominasi sentimen Negatif sebesar 81,1%. Ketimpangan ekstrem ini awalnya memicu jebakan bias (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Paradox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pada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Naïve Bayes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yang kemudian berhasil diatasi dengan menyeimbangkan data latih menggunakan SMOTE.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85800" y="2788920"/>
            <a:ext cx="5257800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50392" y="2935224"/>
            <a:ext cx="310896" cy="310896"/>
          </a:xfrm>
          <a:prstGeom prst="ellipse">
            <a:avLst/>
          </a:prstGeom>
          <a:solidFill>
            <a:srgbClr val="FFED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7302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1252728" y="2907791"/>
            <a:ext cx="45079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Fitur/variabel mana yang berpengaruh?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937345" y="3319270"/>
            <a:ext cx="4755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Kombinasi pembobotan TF-IDF (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unigram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bigram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sangat efektif menangkap kata kunci kritik. Keberadaan fitur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bigram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bernegasi (seperti “tidak kompeten”) membantu mesin membaca konteks kalimat agar tidak salah melakukan pelabelan.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172200" y="2788920"/>
            <a:ext cx="5257800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336792" y="2935224"/>
            <a:ext cx="310896" cy="310896"/>
          </a:xfrm>
          <a:prstGeom prst="ellipse">
            <a:avLst/>
          </a:prstGeom>
          <a:solidFill>
            <a:srgbClr val="FFED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7302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6739128" y="2907791"/>
            <a:ext cx="45079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Apakah hasil sudah menjawab rumusan masalah?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6428232" y="3319270"/>
            <a:ext cx="4755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Sudah menjawab secara kuantitatif. Terdapat penolakan dan kritik yang masif (81,1% opini Negatif) terhadap pernyataan Presiden terkait "orang desa dan dolar", dan model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berhasil memetakannya secara terukur.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85800" y="4251960"/>
            <a:ext cx="1074420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50392" y="4398264"/>
            <a:ext cx="310896" cy="310896"/>
          </a:xfrm>
          <a:prstGeom prst="ellipse">
            <a:avLst/>
          </a:prstGeom>
          <a:solidFill>
            <a:srgbClr val="FFED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7302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1252728" y="4370832"/>
            <a:ext cx="99943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Apa kelemahan hasil sementara?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914407" y="4782322"/>
            <a:ext cx="10241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Tingkat keandalan keseluruhan (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masih berada di kisaran 0,45. Hal ini menandakan mesin belum sempurna dan masih kesulitan menebak batas tipis antara kalimat sarkasme, penggunaan bahasa daerah, dan singkatan ekstrem warganet.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 txBox="1"/>
          <p:nvPr/>
        </p:nvSpPr>
        <p:spPr>
          <a:xfrm>
            <a:off x="2858598" y="1889900"/>
            <a:ext cx="6474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B2240"/>
                </a:solidFill>
                <a:latin typeface="Urbanist"/>
                <a:ea typeface="Urbanist"/>
                <a:cs typeface="Urbanist"/>
                <a:sym typeface="Urbanist"/>
              </a:rPr>
              <a:t>Terima kasih atas Perhatiannya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 flipH="1" rot="10800000">
            <a:off x="2946800" y="2699250"/>
            <a:ext cx="120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3100399" y="5625749"/>
            <a:ext cx="5991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B224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Kelompok 3 • DIV Teknik Informatika • Universitas Logistik &amp; Bisnis Internasional (ULBI)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</cp:coreProperties>
</file>